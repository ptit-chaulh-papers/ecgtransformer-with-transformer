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71" r:id="rId12"/>
    <p:sldId id="264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9" autoAdjust="0"/>
    <p:restoredTop sz="94607"/>
  </p:normalViewPr>
  <p:slideViewPr>
    <p:cSldViewPr snapToGrid="0">
      <p:cViewPr varScale="1">
        <p:scale>
          <a:sx n="138" d="100"/>
          <a:sy n="138" d="100"/>
        </p:scale>
        <p:origin x="11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EFE2-018E-8603-14E9-BA27B25BD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DBDDFC-485A-BF00-CC7A-E522289C8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80912-BC38-53F1-BF7B-D2F20B9F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C4386-4615-71BE-92F9-5D60F72B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B1AC3-77C4-E994-E324-44DB2DB70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2400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206F-56F3-D075-6F30-7C6DE75A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62006-0241-2BFF-17E8-5C24DBCB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C758D-B65C-5E18-1781-FFB56077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A7B25-8DCA-3957-4197-0C5841AC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C0A81-1F01-9684-45E0-328998B0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5757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BFC30-B14A-8ADF-6AB2-B86B3A88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4630-AB42-D338-7757-2627A1765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7E075-C616-EB32-9563-40D87F2F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C9D9E-4D4F-7A5F-F72A-174769E2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3C1F7-9B21-5FF6-0C4F-7A8E437A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981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7347-2498-7C36-8F3F-70843F50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0F726-8777-A198-4C46-DD3D0E137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D138F-B0D4-E90A-2B39-DAEF8CEF4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2010B-0598-51B6-CE1B-89130E9B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D03F6-F9B5-4941-CEDE-E04013BA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BF6C-85D8-1B3D-FCA3-D3B2A59E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1950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985-EBAF-5486-D9C7-2E729D1A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2C2E2-7423-E068-F6F7-4B3E80947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17D2E-E492-716D-877B-9D75B8BAC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58DB1-A9AB-3D12-5C37-6F79C0E27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49C34-08DF-D623-6DC5-5B5D8B422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E856D-5604-0B8D-50E8-6D8FE2C2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1FAD5-809A-9682-C45B-EAAB488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BFF102-7587-1C1A-5782-CE6C5B26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6686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F39F-F1A2-7B74-1F68-37648599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F8CE9-AFAB-4572-6876-57A94ECF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8CAD3-916B-B750-29F0-62938BD5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F2198-346A-9941-79D5-8E3704621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5729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294C1-3447-CE22-8ECF-FA18FCAB4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EBC29-2324-0953-FBB1-E405CFAA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EF877-2AF8-8872-1735-9E68B816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7196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F636-6415-471C-CB82-C9FF2B33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4E667-A2F7-858A-418C-507932B53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562EE-1799-5C86-CA82-7B77EA67B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E9091-A56A-0DD9-05F0-F9AEC8DE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B45BA-292A-DE98-81A6-5E940879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035B-D349-ECCA-FEF5-0BB59CF3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6422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36290-BA48-8CB6-7F9D-2B2A8E43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30EC2-5F57-46B1-D393-AA5F56010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66BF2-CFF1-23E5-E2C4-890535009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F9AF-1FC8-E26C-A4A4-28D2CA1C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A66A4-00AE-9E73-037E-8035C106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21AF0-87EF-7345-ED4A-7A272F6E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91234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3239-90B7-7CAE-BF45-C4BDA234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CB6E8-8351-2CE9-498B-954076FE9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4BCD5-7201-F4FB-F206-6987182F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6BEBF-84FE-7E8C-7EEE-5E81190F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91AEC-858F-29F8-BDF6-981CB548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57914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07E2C-6CE5-9A5F-740D-95C8FC797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45A18-0982-B773-B8D3-A8E9FCD2B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88C8-2061-3894-812C-FE263C428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F636F-B645-9790-93F5-FC745F0B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EF328-EAA0-D23F-1D57-FDE27C06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3878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8D62C-0C81-C86A-622B-61018A9AF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42160-4241-3DDA-4920-6E2352B50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CE427-1C09-5C3E-1319-F71D17AF4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6C39A-CAE7-8E40-8C4D-24D9086417DE}" type="datetimeFigureOut">
              <a:rPr lang="en-VN" smtClean="0"/>
              <a:t>05/06/2026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E3309-60ED-945E-62C3-EB71E092A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CA9C-4F0E-BE80-C76D-D3BCBBA23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6852D-CBCC-1347-9B03-B6FACF7B1D5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1708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dpi.com/1424-8220/24/24/789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ture.com/articles/s41746-025-02215-8#Sec2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149B-7706-486C-82D7-A4C123130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b="0" i="0" dirty="0" err="1">
                <a:solidFill>
                  <a:srgbClr val="1F1F1F"/>
                </a:solidFill>
                <a:effectLst/>
                <a:latin typeface="ElsevierGulliver"/>
              </a:rPr>
              <a:t>ECGTransForm</a:t>
            </a:r>
            <a:r>
              <a:rPr lang="en-US" sz="4400" b="0" i="0" dirty="0">
                <a:solidFill>
                  <a:srgbClr val="1F1F1F"/>
                </a:solidFill>
                <a:effectLst/>
                <a:latin typeface="ElsevierGulliver"/>
              </a:rPr>
              <a:t>: Empowering adaptive ECG arrhythmia classification framework with bidirectional transformer</a:t>
            </a:r>
            <a:endParaRPr lang="en-VN" sz="4400" dirty="0"/>
          </a:p>
        </p:txBody>
      </p:sp>
    </p:spTree>
    <p:extLst>
      <p:ext uri="{BB962C8B-B14F-4D97-AF65-F5344CB8AC3E}">
        <p14:creationId xmlns:p14="http://schemas.microsoft.com/office/powerpoint/2010/main" val="3091881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A1F5B-6554-D1B7-67E9-CC0A4E36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Phân loại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A310-11B8-77AD-F833-2752BF040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Bộ dữ liệu sử dụng: MIT-BIH và PTB</a:t>
            </a:r>
          </a:p>
          <a:p>
            <a:endParaRPr lang="en-VN" dirty="0"/>
          </a:p>
          <a:p>
            <a:r>
              <a:rPr lang="en-VN" dirty="0"/>
              <a:t>Số leads trong bộ dữ liệu PTB: 12 leads</a:t>
            </a:r>
          </a:p>
          <a:p>
            <a:endParaRPr lang="en-VN" dirty="0"/>
          </a:p>
          <a:p>
            <a:r>
              <a:rPr lang="en-VN" dirty="0"/>
              <a:t>Số leads trong bộ dữ liệu MIT-BIH: không đề cập trong bài</a:t>
            </a:r>
          </a:p>
          <a:p>
            <a:endParaRPr lang="en-VN" dirty="0"/>
          </a:p>
          <a:p>
            <a:r>
              <a:rPr lang="en-VN" dirty="0"/>
              <a:t>Phân loại: Phân loại 5 lớp.</a:t>
            </a:r>
          </a:p>
        </p:txBody>
      </p:sp>
    </p:spTree>
    <p:extLst>
      <p:ext uri="{BB962C8B-B14F-4D97-AF65-F5344CB8AC3E}">
        <p14:creationId xmlns:p14="http://schemas.microsoft.com/office/powerpoint/2010/main" val="426348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9337-91A7-6DEB-4701-2E9522F2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VN" dirty="0"/>
              <a:t>Bộ dữ liệu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124820-4834-8F9A-1E14-45FDAF73C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097113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645750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455896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003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PTB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349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dirty="0"/>
                        <a:t>Số leads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Số leads không đề cập trong bài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12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787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dirty="0"/>
                        <a:t>Phân loại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5 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Normal và Myocardial Infraction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30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dirty="0"/>
                        <a:t>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360Hz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1000Hz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5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66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21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DED7-9007-DB77-1BD9-3EE8F4B0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Tiền xử lí dữ liệu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A047-23BF-F662-1122-DB9E07C04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VN" dirty="0"/>
              <a:t>Chia tín hiệu thành các khoảng 10 giây</a:t>
            </a:r>
          </a:p>
          <a:p>
            <a:endParaRPr lang="en-VN" dirty="0"/>
          </a:p>
          <a:p>
            <a:r>
              <a:rPr lang="en-VN" dirty="0"/>
              <a:t>Chuẩn hóa tín hiệu: Normalize tín hiệu thành [0,1]</a:t>
            </a:r>
          </a:p>
          <a:p>
            <a:endParaRPr lang="en-VN" dirty="0"/>
          </a:p>
          <a:p>
            <a:r>
              <a:rPr lang="en-VN" dirty="0"/>
              <a:t>Tìm đỉnh R qua zero-crossing với 1st derivative.</a:t>
            </a:r>
          </a:p>
          <a:p>
            <a:endParaRPr lang="en-VN" dirty="0"/>
          </a:p>
          <a:p>
            <a:r>
              <a:rPr lang="en-VN" dirty="0"/>
              <a:t>Tính giá trị trung vị trong khoảng R-R về mặt thời gian</a:t>
            </a:r>
          </a:p>
          <a:p>
            <a:endParaRPr lang="en-VN" dirty="0"/>
          </a:p>
          <a:p>
            <a:r>
              <a:rPr lang="en-VN" dirty="0"/>
              <a:t>Cắt Segment xung quanh đỉnh R = 1.2T</a:t>
            </a:r>
          </a:p>
          <a:p>
            <a:endParaRPr lang="en-VN" dirty="0"/>
          </a:p>
          <a:p>
            <a:r>
              <a:rPr lang="en-VN" dirty="0"/>
              <a:t>Zero-padding để đảm bảo chiều dài cố định</a:t>
            </a:r>
          </a:p>
        </p:txBody>
      </p:sp>
    </p:spTree>
    <p:extLst>
      <p:ext uri="{BB962C8B-B14F-4D97-AF65-F5344CB8AC3E}">
        <p14:creationId xmlns:p14="http://schemas.microsoft.com/office/powerpoint/2010/main" val="73279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FC53-A45A-3CFA-CA2D-EA46F8DD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Dataset và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545A6-B43A-0608-04F1-FE07F30B7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VN" dirty="0"/>
              <a:t>60%-20%-20%</a:t>
            </a:r>
          </a:p>
          <a:p>
            <a:endParaRPr lang="en-VN" dirty="0"/>
          </a:p>
          <a:p>
            <a:r>
              <a:rPr lang="en-VN" dirty="0"/>
              <a:t>60% train</a:t>
            </a:r>
          </a:p>
          <a:p>
            <a:endParaRPr lang="en-VN" dirty="0"/>
          </a:p>
          <a:p>
            <a:r>
              <a:rPr lang="en-VN" dirty="0"/>
              <a:t>20% val</a:t>
            </a:r>
          </a:p>
          <a:p>
            <a:endParaRPr lang="en-VN" dirty="0"/>
          </a:p>
          <a:p>
            <a:r>
              <a:rPr lang="en-VN" dirty="0"/>
              <a:t>20% test</a:t>
            </a:r>
          </a:p>
          <a:p>
            <a:endParaRPr lang="en-VN" dirty="0"/>
          </a:p>
          <a:p>
            <a:r>
              <a:rPr lang="en-VN" dirty="0"/>
              <a:t>Training epoch = 60, batch_size=128, optimizer: Adam, lr = 1e-3, weight_decay=1e-4.</a:t>
            </a:r>
          </a:p>
          <a:p>
            <a:pPr marL="0" indent="0">
              <a:buNone/>
            </a:pPr>
            <a:r>
              <a:rPr lang="en-VN" dirty="0"/>
              <a:t>3 convolution layers với kernel = 5,9,11. </a:t>
            </a:r>
          </a:p>
          <a:p>
            <a:r>
              <a:rPr lang="en-VN"/>
              <a:t>2 </a:t>
            </a:r>
            <a:r>
              <a:rPr lang="en-VN" dirty="0"/>
              <a:t>lớp tiếp theo dùng kernel=</a:t>
            </a:r>
            <a:r>
              <a:rPr lang="en-VN"/>
              <a:t>8.</a:t>
            </a:r>
            <a:endParaRPr lang="en-VN" dirty="0"/>
          </a:p>
          <a:p>
            <a:r>
              <a:rPr lang="en-VN" dirty="0"/>
              <a:t>Transformer = 3 layers, 5 heads, dropout=0.5</a:t>
            </a:r>
          </a:p>
        </p:txBody>
      </p:sp>
    </p:spTree>
    <p:extLst>
      <p:ext uri="{BB962C8B-B14F-4D97-AF65-F5344CB8AC3E}">
        <p14:creationId xmlns:p14="http://schemas.microsoft.com/office/powerpoint/2010/main" val="1635736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F3CA-72B4-E8DC-3410-9233BF3C0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Multi-scale Convolution (MSC)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ED6D-A182-9D41-D7A3-2C8B44B71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Bắt các đặc trưng ở nhiều mức độ khác nhau (ở mức rất chi tiết -&gt; tổng quát). Mỗi lớp trong multiscale có kernel khác nhau.</a:t>
            </a:r>
          </a:p>
          <a:p>
            <a:r>
              <a:rPr lang="en-VN" dirty="0"/>
              <a:t>Cho phép mô hình nhận diện các mẫu trên khoảng không gian khác nhau.</a:t>
            </a:r>
          </a:p>
          <a:p>
            <a:r>
              <a:rPr lang="en-VN" dirty="0"/>
              <a:t>Kernel size nhỏ cho phép bắt đặc trưng cục bộ, chi tiết</a:t>
            </a:r>
          </a:p>
          <a:p>
            <a:r>
              <a:rPr lang="en-VN" dirty="0"/>
              <a:t>Kernel size lớn cho phép lấy các mẫu quan trọng và mối quan hệ giữa các đặc trưng</a:t>
            </a:r>
          </a:p>
          <a:p>
            <a:r>
              <a:rPr lang="en-VN" dirty="0"/>
              <a:t>Tính trung bình để biểu diễn thông tin hợp nhất từ MSC </a:t>
            </a:r>
          </a:p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241002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C345-D7BA-859E-3065-E5E111F8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Channel Recalibration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FFA18-F47F-27D5-0B8F-FAD591A2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Giúp mô hình hóa phụ thuộc giữa các KÊNH</a:t>
            </a:r>
            <a:r>
              <a:rPr lang="en-US" dirty="0"/>
              <a:t> (Channel)</a:t>
            </a:r>
            <a:endParaRPr lang="en-VN" dirty="0"/>
          </a:p>
          <a:p>
            <a:endParaRPr lang="en-VN" dirty="0"/>
          </a:p>
          <a:p>
            <a:r>
              <a:rPr lang="en-VN" dirty="0"/>
              <a:t>Nhận biết và tận dụng các mối quan hệ phức tạp giữa các đầu.</a:t>
            </a:r>
          </a:p>
          <a:p>
            <a:endParaRPr lang="en-VN" dirty="0"/>
          </a:p>
          <a:p>
            <a:r>
              <a:rPr lang="en-VN" dirty="0"/>
              <a:t>Hiệu chỉnh đặc trưng trên kênh, giúp cải thiện chất lượng đặc trưng, giúp giảm nhiễu. </a:t>
            </a:r>
            <a:endParaRPr lang="en-US" dirty="0"/>
          </a:p>
          <a:p>
            <a:endParaRPr lang="en-US" dirty="0"/>
          </a:p>
          <a:p>
            <a:r>
              <a:rPr lang="en-VN" dirty="0"/>
              <a:t>Các kênh có chất lượng tốt được cải thiện, 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kém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l</a:t>
            </a:r>
            <a:r>
              <a:rPr lang="vi-VN" dirty="0"/>
              <a:t>ư</a:t>
            </a:r>
            <a:r>
              <a:rPr lang="en-US" dirty="0" err="1"/>
              <a:t>ợng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887938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C865-7371-C096-102A-4C7FFFBA0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BiTrans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00F5-A4E8-39CF-8EA5-137708CFA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</a:t>
            </a:r>
            <a:r>
              <a:rPr lang="en-VN" dirty="0"/>
              <a:t>ấy đầu vào là feature maps từ các lớp trước</a:t>
            </a:r>
            <a:r>
              <a:rPr lang="en-US" dirty="0"/>
              <a:t>. </a:t>
            </a:r>
            <a:r>
              <a:rPr lang="en-VN" dirty="0"/>
              <a:t>Đồng thời đảo trật tự feature maps.</a:t>
            </a:r>
          </a:p>
          <a:p>
            <a:endParaRPr lang="en-VN" dirty="0"/>
          </a:p>
          <a:p>
            <a:r>
              <a:rPr lang="en-VN" dirty="0"/>
              <a:t>Featuremap (thuận) + feature map (đảo) -&gt; input.</a:t>
            </a:r>
          </a:p>
          <a:p>
            <a:endParaRPr lang="en-US" dirty="0"/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Transformer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N_blocks</a:t>
            </a:r>
            <a:r>
              <a:rPr lang="en-US" dirty="0"/>
              <a:t> = 3, </a:t>
            </a:r>
            <a:r>
              <a:rPr lang="en-US" dirty="0" err="1"/>
              <a:t>d</a:t>
            </a:r>
            <a:r>
              <a:rPr lang="en-US" baseline="-25000" dirty="0" err="1"/>
              <a:t>feedforward</a:t>
            </a:r>
            <a:r>
              <a:rPr lang="en-US" baseline="-25000" dirty="0"/>
              <a:t> </a:t>
            </a:r>
            <a:r>
              <a:rPr lang="en-US" dirty="0"/>
              <a:t>= 1024, </a:t>
            </a:r>
            <a:r>
              <a:rPr lang="en-US" dirty="0" err="1"/>
              <a:t>dim</a:t>
            </a:r>
            <a:r>
              <a:rPr lang="en-US" baseline="-25000" dirty="0" err="1"/>
              <a:t>input</a:t>
            </a:r>
            <a:r>
              <a:rPr lang="en-US" dirty="0"/>
              <a:t> = 512.</a:t>
            </a:r>
            <a:endParaRPr lang="en-VN" dirty="0"/>
          </a:p>
          <a:p>
            <a:endParaRPr lang="en-VN" dirty="0"/>
          </a:p>
          <a:p>
            <a:r>
              <a:rPr lang="en-VN" dirty="0"/>
              <a:t>Phân loại và đánh giá kết quả.</a:t>
            </a:r>
          </a:p>
        </p:txBody>
      </p:sp>
    </p:spTree>
    <p:extLst>
      <p:ext uri="{BB962C8B-B14F-4D97-AF65-F5344CB8AC3E}">
        <p14:creationId xmlns:p14="http://schemas.microsoft.com/office/powerpoint/2010/main" val="104583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CAC0-64C1-48FA-8204-D65432D58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B15EC3-DED6-4C3E-A06F-96199F79D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310" y="3582135"/>
            <a:ext cx="7735380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0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42A0-552F-407A-8C21-C232D59E4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A22A40-48DD-4C0F-A82C-FA1BFDF3F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7625" y="2167475"/>
            <a:ext cx="9316750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0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EF74-232A-4ED2-BB1A-90BF820E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27CA-9F87-480E-B606-DE15215F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output_dim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[128,256,512,1024].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output_dim</a:t>
            </a:r>
            <a:r>
              <a:rPr lang="en-US" dirty="0"/>
              <a:t>=512</a:t>
            </a:r>
          </a:p>
          <a:p>
            <a:endParaRPr lang="en-US" dirty="0"/>
          </a:p>
          <a:p>
            <a:r>
              <a:rPr lang="en-US" dirty="0" err="1"/>
              <a:t>N_head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[16,32,64,128].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32.</a:t>
            </a:r>
          </a:p>
          <a:p>
            <a:endParaRPr lang="en-US" dirty="0"/>
          </a:p>
          <a:p>
            <a:r>
              <a:rPr lang="en-US" dirty="0"/>
              <a:t>Kernel size = [5,6,7,8,9].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5.</a:t>
            </a:r>
          </a:p>
          <a:p>
            <a:endParaRPr lang="en-US" dirty="0"/>
          </a:p>
          <a:p>
            <a:r>
              <a:rPr lang="en-US" dirty="0" err="1"/>
              <a:t>Attention_num_layer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[1,2,3,4,5].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/>
              <a:t>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9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ACE1-D563-4B52-B67E-EDB3F13E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4512F-442D-41FC-BE4C-811762BC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Research on a Lightweight Arrhythmia Classification Model Based on Knowledge Distillation for Wearable Single-Lead ECG Monitoring Systems</a:t>
            </a:r>
          </a:p>
          <a:p>
            <a:r>
              <a:rPr lang="en-US" dirty="0">
                <a:hlinkClick r:id="rId2"/>
              </a:rPr>
              <a:t>https://www.mdpi.com/1424-8220/24/24/7896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C0D52-CC95-42FE-AD9C-1284F253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196" y="3782187"/>
            <a:ext cx="5715607" cy="271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47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F40F-CAEE-4A8A-8AD2-82E2BAA8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51AF-BCD0-49AE-9060-A4A27486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Learning-Based Arrhythmia Detection Using Convolutional Neural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DED18-A0D4-46FA-86E9-5202A9F10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020" y="2852593"/>
            <a:ext cx="6183960" cy="247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7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B565-D69D-4364-8132-3417E2FF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/>
              <a:t>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2F862-5FA7-4D7A-BED8-B2BD182D6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https://www.nature.com/articles/s41746-025-02215-8#Sec2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Khoai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Phân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loại</a:t>
            </a:r>
            <a:r>
              <a:rPr lang="en-US" dirty="0">
                <a:sym typeface="Wingdings" panose="05000000000000000000" pitchFamily="2" charset="2"/>
              </a:rPr>
              <a:t> 12 classes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0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3C82-8348-0363-FC57-DF8C8912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Phase 3: Lấy danh sách tài liệu tham khảo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41292-E30D-3DD4-38BF-991670812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Tại sao chọn 5 layers: Phương pháp xây dựng là gì ?</a:t>
            </a:r>
          </a:p>
          <a:p>
            <a:pPr lvl="1"/>
            <a:r>
              <a:rPr lang="en-VN" dirty="0"/>
              <a:t>Nhiều tầng giải quyết vấn đề gì ?</a:t>
            </a:r>
          </a:p>
          <a:p>
            <a:pPr lvl="1"/>
            <a:endParaRPr lang="en-VN" dirty="0"/>
          </a:p>
          <a:p>
            <a:r>
              <a:rPr lang="en-VN" dirty="0"/>
              <a:t>Khảo sát kiến trúc: lí do phương pháp lựa chọn kiến trúc (tại sao lại làm thế).</a:t>
            </a:r>
          </a:p>
          <a:p>
            <a:pPr lvl="1"/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817616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7663C-A603-4CE2-A3E3-4A4BB158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Nvu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7576-4650-44E0-93FD-1C9B28FA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batch_size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[16,32,64,128].</a:t>
            </a:r>
          </a:p>
          <a:p>
            <a:endParaRPr lang="en-US" dirty="0"/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Chapman: 1 </a:t>
            </a:r>
            <a:r>
              <a:rPr lang="en-US" dirty="0" err="1"/>
              <a:t>đầu</a:t>
            </a:r>
            <a:r>
              <a:rPr lang="en-US" dirty="0"/>
              <a:t> – 3 </a:t>
            </a:r>
            <a:r>
              <a:rPr lang="en-US" dirty="0" err="1"/>
              <a:t>đầu</a:t>
            </a:r>
            <a:r>
              <a:rPr lang="en-US" dirty="0"/>
              <a:t> – 12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Blending (12 </a:t>
            </a:r>
            <a:r>
              <a:rPr lang="en-US" dirty="0" err="1"/>
              <a:t>đầu</a:t>
            </a:r>
            <a:r>
              <a:rPr lang="en-US" dirty="0"/>
              <a:t>). </a:t>
            </a:r>
          </a:p>
          <a:p>
            <a:pPr lvl="1"/>
            <a:endParaRPr lang="en-US" dirty="0"/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 err="1">
                <a:sym typeface="Wingdings" panose="05000000000000000000" pitchFamily="2" charset="2"/>
              </a:rPr>
              <a:t>Nêu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bật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nghiên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cứu</a:t>
            </a:r>
            <a:r>
              <a:rPr lang="en-US" dirty="0">
                <a:sym typeface="Wingdings" panose="05000000000000000000" pitchFamily="2" charset="2"/>
              </a:rPr>
              <a:t> Transformer.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10-12 </a:t>
            </a:r>
            <a:r>
              <a:rPr lang="en-US" dirty="0" err="1">
                <a:sym typeface="Wingdings" panose="05000000000000000000" pitchFamily="2" charset="2"/>
              </a:rPr>
              <a:t>bài</a:t>
            </a:r>
            <a:r>
              <a:rPr lang="en-US" dirty="0">
                <a:sym typeface="Wingdings" panose="05000000000000000000" pitchFamily="2" charset="2"/>
              </a:rPr>
              <a:t> Transformer ECG.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Vẽ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và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sắp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xếp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quả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Chạy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từng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kết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quả</a:t>
            </a:r>
            <a:r>
              <a:rPr lang="en-US" dirty="0">
                <a:sym typeface="Wingdings" panose="05000000000000000000" pitchFamily="2" charset="2"/>
              </a:rPr>
              <a:t>).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è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828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698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ElsevierGulliver</vt:lpstr>
      <vt:lpstr>Wingdings</vt:lpstr>
      <vt:lpstr>Office Theme</vt:lpstr>
      <vt:lpstr>ECGTransForm: Empowering adaptive ECG arrhythmia classification framework with bidirectional transformer</vt:lpstr>
      <vt:lpstr>Phân loại</vt:lpstr>
      <vt:lpstr>Bộ dữ liệu</vt:lpstr>
      <vt:lpstr>Tiền xử lí dữ liệu</vt:lpstr>
      <vt:lpstr>Dataset và methodology</vt:lpstr>
      <vt:lpstr>Multi-scale Convolution (MSC)</vt:lpstr>
      <vt:lpstr>Channel Recalibration Module</vt:lpstr>
      <vt:lpstr>BiTrans</vt:lpstr>
      <vt:lpstr>Cấu hình</vt:lpstr>
      <vt:lpstr>Kết quả </vt:lpstr>
      <vt:lpstr>Kết quả cập nhật</vt:lpstr>
      <vt:lpstr>Các nghiên cứu gần đây</vt:lpstr>
      <vt:lpstr>Tiếp (2)</vt:lpstr>
      <vt:lpstr>Tiếp (3)</vt:lpstr>
      <vt:lpstr>Phase 3: Lấy danh sách tài liệu tham khảo</vt:lpstr>
      <vt:lpstr>Nvu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ECGTransForm: Empowering adaptive ECG arrhythmia classification framework with bidirectional transformer</dc:title>
  <dc:creator>Nguyen Huu Cam</dc:creator>
  <cp:lastModifiedBy>Nguyen Huu Cam</cp:lastModifiedBy>
  <cp:revision>149</cp:revision>
  <dcterms:created xsi:type="dcterms:W3CDTF">2026-04-01T05:40:36Z</dcterms:created>
  <dcterms:modified xsi:type="dcterms:W3CDTF">2026-05-06T04:37:54Z</dcterms:modified>
</cp:coreProperties>
</file>